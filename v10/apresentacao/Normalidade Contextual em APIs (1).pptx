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10 s. Boa noite. Apresento o trabalho Normalidade Contextual em APIs: caracterização de regimes a partir de Access Logs para apoio à análise de incidentes.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Critério: contexto e problema (base das conclusões). Tempo: 55 s. No Banco do Brasil, cerca de trinta mil APIs são executadas por dia. Quando um incidente é aberto, o operador precisa saber se as APIs envolvidas estavam normais, qual métrica desviou e desde quando. A resposta não é trivial. O gráfico, com dados reais do trabalho, mostra que cada recurso tem seu próprio ritmo: o E01 tem um lote à meia-noite e outro às dezoito horas; o E05, um lote às quinze; o E02 e o E12 seguem o horário comercial. Um limite fixo trataria esses picos como falha. E o comportamento ainda muda ao longo dos meses. Daí as quatro perguntas de pesquisa: decidir o estado; identificar indicador e início; escolher a faixa de tempo; e saber quanto histórico o perfil precisa. Volto a elas na conclusão.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Critério: revisão da literatura. Tempo: 50 s. A revisão foi organizada em quatro frentes e comparada por quatro critérios: fonte de dados, tratamento da normalidade, tipo de saída e necessidade de rótulos ou instrumentação. DeepLog e LogAnomaly exigem log de sistema e aprendem uma normalidade única. O SPOT é o mais próximo do nosso trabalho, porque deriva o limiar da própria distribuição, mas adapta esse limiar ao tempo e pode absorver uma degradação lenta como se fosse o novo normal. DeepTraLog e GAMMA localizam o problema, mas exigem traces e instrumentação; são complementares ao nosso enfoque. E os sistemas multiagente consomem evidências sem avaliar sua qualidade. A lacuna: nenhum trabalho usa só o Access Log para modelar vários regimes normais por recurso e explicar estado, indicador e início no instante do incidente.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Critério: originalidade. Tempo: 45 s. A originalidade está na pergunta e na fonte. O modelo responde no instante em que o incidente é aberto, usando apenas Access Logs, que existem para todas as APIs sem instrumentar código. Ele funciona como um oráculo de contexto para um agente especialista do sistema multiagente do meu mestrado. A hipótese do projeto é que uma evidência pré-processada e estruturada reduz os dados brutos que o agente precisa percorrer e evita alucinações; aqui avaliamos a qualidade dessa evidência, não o desempenho do agente. São cinco contribuições, da caracterização dos regimes de doze recursos à evidência de que o histórico recente vale mais que o longo.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Critério: metodologia. Tempo: 45 s. A metodologia segue o CRISP-DM, com um notebook Jupyter por etapa e sementes fixas, o que torna cenários e agrupamentos reprodutíveis. Os critérios de sucesso foram definidos antes da modelagem. A base tem 5,6 milhões de registros de doze recursos de produção, de maio a setembro de 2026, com 1.976 clientes anonimizados; cada registro agrega um minuto, um recurso, um código HTTP e um cliente. Um cuidado importante foi evitar vazamento: para cada mês de teste, o perfil e os limites são ajustados só com dados anteriores, com três meses ou com um mês de histórico.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Critério: qualidade técnica. Tempo: 50 s. O núcleo técnico é o perfil de normalidade contextual. O contexto é o par tipo de dia e hora. Para cada recurso, contexto e indicador, o perfil guarda a mediana e uma escala robusta, a MAD multiplicada por 1,4826, que não é distorcida por picos. O desvio mede quantas escalas o valor se afasta do esperado e só conta na direção desfavorável. A principal decisão de modelagem foi dar a cada indicador seu próprio limite: o percentil 99 dos desvios do histórico, calculado fora da amostra. O mapa mostra por quê: no E04, o limite de erros 4xx é 86, porque esses picos são frequentes; um limite único para todos os indicadores esconderia desvios de latência e de erros de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Critério: qualidade técnica. Tempo: 40 s. Definido o estado, o método estima desde quando. A faixa dos quinze minutos anteriores ao registro decide o estado e o indicador. Se ela é residual, o método olha para trás em faixas cada vez mais distantes, até quatro horas, e para na primeira faixa normal. No exemplo do E12, um erro 5xx começou sessenta minutos antes: as três faixas recentes são residuais e a de sessenta a cento e vinte minutos é normal. O início fica, portanto, entre trinta e cento e vinte minutos antes do registro. É uma regra simples de explicar: olhar para trás até encontrar um período normal.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Critério: experimentos. Tempo: 45 s. Como não havia histórico rotulado de incidentes, a avaliação usa falhas injetadas nos registros por minuto e cliente, depois reagregados, para que os indicadores reajam como numa falha real. São cinco motivos em até quatro intensidades; para a latência incluímos a de dez vezes, porque esse é o tamanho típico das degradações relevantes no histórico. Com quatro atrasos e cinco réplicas, em agosto com sete recursos e em setembro com doze, chegamos a 6.077 incidentes e 6.080 controles: 12.157 consultas. São quatro experimentos: regimes, estado no registro, indicador e início, e histórico. Os baselines são o z-score global e a semana anterior, comparados pelo teste exato de McNemar.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Critério: experimentos (Exp. 1). Tempo: 40 s. O primeiro experimento responde à primeira parte da RQ1. Nos dias úteis, 96% dos testes de Kruskal-Wallis foram significativos: os indicadores mudam de fato com a hora, com efeito grande para volume, erros 4xx e latência. O k-means encontrou de dois a oito regimes por recurso, sem usar o contexto, para que a relação com a hora fosse uma descoberta e não um insumo. No E02, aparece um regime à meia-noite com erros 5xx elevados. Ele é normal para aquele horário, e é exatamente o tipo de variação legítima que um limite fixo trataria como falha.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Critério: experimentos (Exp. 2). Tempo: 50 s. No segundo experimento, com a faixa de quinze minutos, 97,1% dos controles saíram normais: poucos alarmes falsos. A sensibilidade foi de 39%. Ela depende muito do motivo: chega a 88% em erros de sistema generalizados e a 61% na latência de dez vezes, mas é baixa em erros de negócio, porque vários recursos já têm muitos 4xx naturais e recebem limites altos. Na faixa de quinze minutos, o perfil empata com os dois baselines; só supera o z-score global na faixa de trinta, diferença que o artigo pede para ler com cautela. Quanto à RQ3, as faixas de quinze e trinta minutos são equivalentes e melhores que a de sessenta.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Critério: experimentos (Exp. 3). Tempo: 45 s. O terceiro experimento mostra o ponto mais forte do método: a qualidade da informação quando ela é emitida. O indicador responsável é apontado corretamente em 96,5% dos casos; o início real cai dentro da zona estimada em 91,7%, chegando a 99% quando a degradação começou quinze ou trinta minutos antes; e a abrangência, generalizada ou de um consumidor, acerta em 76%. A saída é um documento estruturado, pronto para o agente, com a explicação em linguagem natural. E nos dados reais, sem injeção, a consulta encontrou no E02, à 1h45 de 2 de setembro, 4,1% de erros 5xx, quando o normal é até 1,1%: um candidato a incidente real, a confirmar com a operação.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Critério: experimentos (Exp. 4). Tempo: 40 s. O quarto experimento trouxe um resultado contrário à expectativa inicial. As APIs mudam de patamar: no E02, a taxa de erros de negócio passou de 32% em julho para 62% em setembro. Por isso, o histórico de um mês foi melhor que o de três nos acertos de estado, com McNemar abaixo de 0,001: a sensibilidade subiu para 42,1%, com especificidade de 96,3%. O ganho veio de setembro, quando a mudança foi maior; em agosto, os dois ficaram próximos. Para a implantação, a recomendação é retreinar com frequência, usando o histórico recente.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Critério: conclusões. Tempo: 45 s. Voltando às perguntas. RQ1: sim, os Access Logs mostram regimes ligados à hora e permitem decidir o estado com 97,1% de especificidade. RQ2: o indicador é apontado corretamente em 96,5% dos casos e o início em 91,7%. RQ3: a faixa de quinze minutos decide, e a expansão retroativa dá o horizonte. RQ4: o histórico recente supera o longo. As limitações são a sensibilidade, de 39%, e o uso de falhas sintéticas; o ganho do contexto sobre um perfil sem contexto está mais na explicação do que na detecção. Como trabalhos futuros: validar com incidentes reais e com operadores, testar janelas deslizantes, medir a latência por requisição, avaliar outras APIs e integrar ao agente.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5 s. Agradeço a atenção e fico à disposição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61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54201"/>
            <a:ext cx="10566400" cy="4190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61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54201"/>
            <a:ext cx="10566400" cy="4190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F5F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PPCA · UNIVERSIDADE DE BRASÍLIA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2664460"/>
            <a:ext cx="762000" cy="50800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4" name="Text 2"/>
          <p:cNvSpPr/>
          <p:nvPr>
            <p:ph type="title"/>
          </p:nvPr>
        </p:nvSpPr>
        <p:spPr>
          <a:xfrm>
            <a:off x="812800" y="2918460"/>
            <a:ext cx="10883392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Normalidade Contextual em APIs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12800" y="3792220"/>
            <a:ext cx="108833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Caracterização de regimes a partir de Access Logs para apoio à análise de incidentes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576072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Diego Paz Casagrande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F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CONTEXTO, PROBLEMA E PERGUNTAS DE PESQUISA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Quando o incidente abre, a API estava normal?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31850" y="1880235"/>
            <a:ext cx="0" cy="548640"/>
          </a:xfrm>
          <a:prstGeom prst="line">
            <a:avLst/>
          </a:prstGeom>
          <a:noFill/>
          <a:ln w="38100">
            <a:solidFill>
              <a:srgbClr val="B545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5360" y="1880235"/>
            <a:ext cx="5117287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comportamento varia com hora, lotes e calendário, e muda ao longo dos meses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1850" y="2555875"/>
            <a:ext cx="0" cy="548640"/>
          </a:xfrm>
          <a:prstGeom prst="line">
            <a:avLst/>
          </a:prstGeom>
          <a:noFill/>
          <a:ln w="38100">
            <a:solidFill>
              <a:srgbClr val="1F5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5360" y="2555875"/>
            <a:ext cx="5117287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RQ1</a:t>
            </a: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AALs agregados permitem decidir se o recurso está em regime normal?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1850" y="3231515"/>
            <a:ext cx="0" cy="548640"/>
          </a:xfrm>
          <a:prstGeom prst="line">
            <a:avLst/>
          </a:prstGeom>
          <a:noFill/>
          <a:ln w="38100">
            <a:solidFill>
              <a:srgbClr val="1F5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5360" y="3231515"/>
            <a:ext cx="5117287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RQ2</a:t>
            </a: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O método identifica o indicador responsável e o início do desvio?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1850" y="3907155"/>
            <a:ext cx="0" cy="548640"/>
          </a:xfrm>
          <a:prstGeom prst="line">
            <a:avLst/>
          </a:prstGeom>
          <a:noFill/>
          <a:ln w="38100">
            <a:solidFill>
              <a:srgbClr val="1F5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5360" y="3907155"/>
            <a:ext cx="5117287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RQ3</a:t>
            </a: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Qual faixa antes do registro (15, 30 ou 60 min) decide melhor?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1850" y="4582795"/>
            <a:ext cx="0" cy="548640"/>
          </a:xfrm>
          <a:prstGeom prst="line">
            <a:avLst/>
          </a:prstGeom>
          <a:noFill/>
          <a:ln w="38100">
            <a:solidFill>
              <a:srgbClr val="1F5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5360" y="4582795"/>
            <a:ext cx="5117287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RQ4</a:t>
            </a: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Um histórico de 3 meses gera perfil melhor que o de 1 mês?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48400" y="1803400"/>
            <a:ext cx="5130800" cy="2901950"/>
          </a:xfrm>
          <a:prstGeom prst="roundRect">
            <a:avLst>
              <a:gd name="adj" fmla="val 2626"/>
            </a:avLst>
          </a:prstGeom>
          <a:solidFill>
            <a:srgbClr val="FFFFFF"/>
          </a:solidFill>
          <a:ln/>
        </p:spPr>
      </p:sp>
      <p:pic>
        <p:nvPicPr>
          <p:cNvPr id="15" name="Image 0" descr="Volume mediano por hora e tipo de dia em quatro recursos: E01 com lotes à 0h e às 18h, E05 com lote às 15h, E02 e E12 com padrão comercial em dias úteis">    </p:cNvPr>
          <p:cNvPicPr>
            <a:picLocks noChangeAspect="1"/>
          </p:cNvPicPr>
          <p:nvPr/>
        </p:nvPicPr>
        <p:blipFill>
          <a:blip r:embed="rId1"/>
          <a:srcRect l="-82" r="-82" t="0" b="0"/>
          <a:stretch/>
        </p:blipFill>
        <p:spPr>
          <a:xfrm>
            <a:off x="6254750" y="1809750"/>
            <a:ext cx="5118100" cy="2889250"/>
          </a:xfrm>
          <a:prstGeom prst="roundRect">
            <a:avLst>
              <a:gd name="adj" fmla="val 2418"/>
            </a:avLst>
          </a:prstGeom>
        </p:spPr>
      </p:pic>
      <p:sp>
        <p:nvSpPr>
          <p:cNvPr id="16" name="Shape 13"/>
          <p:cNvSpPr/>
          <p:nvPr/>
        </p:nvSpPr>
        <p:spPr>
          <a:xfrm>
            <a:off x="6251575" y="1806575"/>
            <a:ext cx="5124450" cy="2895600"/>
          </a:xfrm>
          <a:prstGeom prst="roundRect">
            <a:avLst>
              <a:gd name="adj" fmla="val 2522"/>
            </a:avLst>
          </a:prstGeom>
          <a:noFill/>
          <a:ln w="6350">
            <a:solidFill>
              <a:srgbClr val="DAD7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48400" y="4781550"/>
            <a:ext cx="528472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Volume mediano por hora, dia útil × não útil (maio a agosto). Figura 1 do artigo.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286240" y="6238241"/>
            <a:ext cx="20929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[Slide 1 de 12]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F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REVISÃO DA LITERATURA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Quatro frentes, comparadas por quatro critérios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13560"/>
          <a:ext cx="10556240" cy="2641600"/>
        </p:xfrm>
        <a:graphic>
          <a:graphicData uri="http://schemas.openxmlformats.org/drawingml/2006/table">
            <a:tbl>
              <a:tblPr/>
              <a:tblGrid>
                <a:gridCol w="2322373"/>
                <a:gridCol w="2111248"/>
                <a:gridCol w="1900123"/>
                <a:gridCol w="2322373"/>
                <a:gridCol w="1900123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Trabalho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Fonte de dados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Normalidade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Saída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Rótulos ou instrum.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DeepLog, LogAnomaly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log de sistema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única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escore ou rótulo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templates de log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SPOT/DSPOT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série univariada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adaptada no tempo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limiar e alarme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USAD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séries multivariadas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única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escore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treino limpo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Wang et al. (2025)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traces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única por sistema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categoria da anomalia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exemplos rotulados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DeepTraLog, GAMMA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traces, logs, métricas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única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escore ou localização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instrumentação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Triangle, OpsAgent, ISRE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várias fontes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consome evidências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triagem ou diagnóstico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integração das fontes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Este trabalho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AAL por minuto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0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regimes por contexto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0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estado, indicador, início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0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nenhum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0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1850" y="4709161"/>
            <a:ext cx="0" cy="240030"/>
          </a:xfrm>
          <a:prstGeom prst="line">
            <a:avLst/>
          </a:prstGeom>
          <a:noFill/>
          <a:ln w="38100">
            <a:solidFill>
              <a:srgbClr val="B5451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5360" y="4709161"/>
            <a:ext cx="10715955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Lacuna: ninguém usa só o AAL para vários regimes normais por recurso no instante do incidente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286240" y="6238241"/>
            <a:ext cx="20929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[Slide 2 de 12]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F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ORIGINALIDADE E CONTRIBUIÇÕES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 modelo como oráculo de contexto para agentes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5975" y="1806575"/>
            <a:ext cx="2180590" cy="770890"/>
          </a:xfrm>
          <a:prstGeom prst="roundRect">
            <a:avLst>
              <a:gd name="adj" fmla="val 12768"/>
            </a:avLst>
          </a:prstGeom>
          <a:solidFill>
            <a:srgbClr val="FBFAF6"/>
          </a:solidFill>
          <a:ln w="6350">
            <a:solidFill>
              <a:srgbClr val="DAD7CC"/>
            </a:solidFill>
            <a:prstDash val="solid"/>
          </a:ln>
        </p:spPr>
        <p:txBody>
          <a:bodyPr wrap="square" lIns="125477" tIns="125477" rIns="102184" bIns="125477" rtlCol="0" anchor="ctr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Access Logs agregados</a:t>
            </a:r>
            <a:endParaRPr lang="en-US" sz="1400" dirty="0"/>
          </a:p>
        </p:txBody>
      </p:sp>
      <p:pic>
        <p:nvPicPr>
          <p:cNvPr id="5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26740" y="2090420"/>
            <a:ext cx="355600" cy="20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09340" y="1803400"/>
            <a:ext cx="2176780" cy="777240"/>
          </a:xfrm>
          <a:prstGeom prst="roundRect">
            <a:avLst>
              <a:gd name="adj" fmla="val 13072"/>
            </a:avLst>
          </a:prstGeom>
          <a:solidFill>
            <a:srgbClr val="1F5FBF"/>
          </a:solidFill>
          <a:ln/>
        </p:spPr>
        <p:txBody>
          <a:bodyPr wrap="square" lIns="122642" tIns="115022" rIns="66483" bIns="115022" rtlCol="0" anchor="ctr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Perfil de normalidade contextual</a:t>
            </a:r>
            <a:endParaRPr lang="en-US" sz="1400" dirty="0"/>
          </a:p>
        </p:txBody>
      </p:sp>
      <p:pic>
        <p:nvPicPr>
          <p:cNvPr id="7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13120" y="2090420"/>
            <a:ext cx="355600" cy="203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98895" y="1806575"/>
            <a:ext cx="2180590" cy="770890"/>
          </a:xfrm>
          <a:prstGeom prst="roundRect">
            <a:avLst>
              <a:gd name="adj" fmla="val 12768"/>
            </a:avLst>
          </a:prstGeom>
          <a:solidFill>
            <a:srgbClr val="FBFAF6"/>
          </a:solidFill>
          <a:ln w="6350">
            <a:solidFill>
              <a:srgbClr val="DAD7CC"/>
            </a:solidFill>
            <a:prstDash val="solid"/>
          </a:ln>
        </p:spPr>
        <p:txBody>
          <a:bodyPr wrap="square" lIns="125477" tIns="112777" rIns="69318" bIns="112777" rtlCol="0" anchor="ctr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Consulta no instante do incidente</a:t>
            </a:r>
            <a:endParaRPr lang="en-US" sz="1400" dirty="0"/>
          </a:p>
        </p:txBody>
      </p:sp>
      <p:pic>
        <p:nvPicPr>
          <p:cNvPr id="9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09660" y="2090420"/>
            <a:ext cx="355600" cy="203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95435" y="1806575"/>
            <a:ext cx="2180590" cy="770890"/>
          </a:xfrm>
          <a:prstGeom prst="roundRect">
            <a:avLst>
              <a:gd name="adj" fmla="val 12768"/>
            </a:avLst>
          </a:prstGeom>
          <a:solidFill>
            <a:srgbClr val="FBFAF6"/>
          </a:solidFill>
          <a:ln w="6350">
            <a:solidFill>
              <a:srgbClr val="DAD7CC"/>
            </a:solidFill>
            <a:prstDash val="solid"/>
          </a:ln>
        </p:spPr>
        <p:txBody>
          <a:bodyPr wrap="square" lIns="125478" tIns="112777" rIns="69317" bIns="112777" rtlCol="0" anchor="ctr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Agente especialista e operador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812800" y="2834641"/>
            <a:ext cx="10566400" cy="802640"/>
          </a:xfrm>
          <a:prstGeom prst="roundRect">
            <a:avLst>
              <a:gd name="adj" fmla="val 12658"/>
            </a:avLst>
          </a:prstGeom>
          <a:solidFill>
            <a:srgbClr val="14213D"/>
          </a:solidFill>
          <a:ln/>
        </p:spPr>
        <p:txBody>
          <a:bodyPr wrap="square" lIns="173442" tIns="122642" rIns="0" bIns="9724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Hipótese do projeto:</a:t>
            </a:r>
            <a:r>
              <a:rPr lang="en-US" sz="1400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evidência pré-processada reduz os dados brutos que o agente percorre e evita alucinações. Aqui se avalia a qualidade dessa evidência.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812800" y="3891280"/>
            <a:ext cx="1088339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F5F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C1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Caracterização rastreável dos regimes de 12 recursos ao longo de cinco meses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812800" y="4207511"/>
            <a:ext cx="1088339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F5F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C2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Método simples, explicável e sem rótulos para estado e indicador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812800" y="4523741"/>
            <a:ext cx="1088339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F5F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C3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Estimativa do início do desvio por expansão retroativa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12800" y="4839970"/>
            <a:ext cx="1088339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F5F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C4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Protocolo de avaliação com incidentes simulados em dois meses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12800" y="5156200"/>
            <a:ext cx="1088339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F5F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C5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Evidência de que o histórico recente supera o longo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9286240" y="6238239"/>
            <a:ext cx="20929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[Slide 3 de 12]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F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METODOLOGIA · CRISP-DM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CRISP-DM aplicado a Access Logs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400"/>
            <a:ext cx="1676400" cy="1170940"/>
          </a:xfrm>
          <a:prstGeom prst="roundRect">
            <a:avLst>
              <a:gd name="adj" fmla="val 6508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939800" y="1930400"/>
            <a:ext cx="147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Negócio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9800" y="2230121"/>
            <a:ext cx="147320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9C4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Problema e critérios de sucesso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90800" y="1803400"/>
            <a:ext cx="1676400" cy="1170940"/>
          </a:xfrm>
          <a:prstGeom prst="roundRect">
            <a:avLst>
              <a:gd name="adj" fmla="val 6508"/>
            </a:avLst>
          </a:prstGeom>
          <a:solidFill>
            <a:srgbClr val="14213D"/>
          </a:solidFill>
          <a:ln/>
        </p:spPr>
      </p:sp>
      <p:sp>
        <p:nvSpPr>
          <p:cNvPr id="8" name="Text 6"/>
          <p:cNvSpPr/>
          <p:nvPr/>
        </p:nvSpPr>
        <p:spPr>
          <a:xfrm>
            <a:off x="2717800" y="1930400"/>
            <a:ext cx="147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Dados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17800" y="2230121"/>
            <a:ext cx="147320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9C4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Qualidade e evolução mensal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8800" y="1803400"/>
            <a:ext cx="1676400" cy="1170940"/>
          </a:xfrm>
          <a:prstGeom prst="roundRect">
            <a:avLst>
              <a:gd name="adj" fmla="val 6508"/>
            </a:avLst>
          </a:prstGeom>
          <a:solidFill>
            <a:srgbClr val="14213D"/>
          </a:solidFill>
          <a:ln/>
        </p:spPr>
      </p:sp>
      <p:sp>
        <p:nvSpPr>
          <p:cNvPr id="11" name="Text 9"/>
          <p:cNvSpPr/>
          <p:nvPr/>
        </p:nvSpPr>
        <p:spPr>
          <a:xfrm>
            <a:off x="4495800" y="1930400"/>
            <a:ext cx="147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Preparação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95800" y="2230121"/>
            <a:ext cx="147320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9C4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Janelas de 1 h e 15 min; p95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46800" y="1803400"/>
            <a:ext cx="1676400" cy="1170940"/>
          </a:xfrm>
          <a:prstGeom prst="roundRect">
            <a:avLst>
              <a:gd name="adj" fmla="val 6508"/>
            </a:avLst>
          </a:prstGeom>
          <a:solidFill>
            <a:srgbClr val="1F5FBF"/>
          </a:solidFill>
          <a:ln/>
        </p:spPr>
      </p:sp>
      <p:sp>
        <p:nvSpPr>
          <p:cNvPr id="14" name="Text 12"/>
          <p:cNvSpPr/>
          <p:nvPr/>
        </p:nvSpPr>
        <p:spPr>
          <a:xfrm>
            <a:off x="6273800" y="1930400"/>
            <a:ext cx="147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Modelagem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73800" y="2230121"/>
            <a:ext cx="147320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3EA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Perfil mediana/MAD e limites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24800" y="1803400"/>
            <a:ext cx="1676400" cy="1170940"/>
          </a:xfrm>
          <a:prstGeom prst="roundRect">
            <a:avLst>
              <a:gd name="adj" fmla="val 6508"/>
            </a:avLst>
          </a:prstGeom>
          <a:solidFill>
            <a:srgbClr val="14213D"/>
          </a:solidFill>
          <a:ln/>
        </p:spPr>
      </p:sp>
      <p:sp>
        <p:nvSpPr>
          <p:cNvPr id="17" name="Text 15"/>
          <p:cNvSpPr/>
          <p:nvPr/>
        </p:nvSpPr>
        <p:spPr>
          <a:xfrm>
            <a:off x="8051800" y="1930400"/>
            <a:ext cx="147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Avaliação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51800" y="2230121"/>
            <a:ext cx="147320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9C4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Exp. 1 a 4; Wilson, McNemar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702800" y="1803400"/>
            <a:ext cx="1676400" cy="1170940"/>
          </a:xfrm>
          <a:prstGeom prst="roundRect">
            <a:avLst>
              <a:gd name="adj" fmla="val 6508"/>
            </a:avLst>
          </a:prstGeom>
          <a:solidFill>
            <a:srgbClr val="14213D"/>
          </a:solidFill>
          <a:ln/>
        </p:spPr>
      </p:sp>
      <p:sp>
        <p:nvSpPr>
          <p:cNvPr id="20" name="Text 18"/>
          <p:cNvSpPr/>
          <p:nvPr/>
        </p:nvSpPr>
        <p:spPr>
          <a:xfrm>
            <a:off x="9829800" y="1930400"/>
            <a:ext cx="147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Implantação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829800" y="2230121"/>
            <a:ext cx="147320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9C4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Consulta estruturada ao agente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5975" y="3231514"/>
            <a:ext cx="3414157" cy="1355090"/>
          </a:xfrm>
          <a:prstGeom prst="roundRect">
            <a:avLst>
              <a:gd name="adj" fmla="val 7263"/>
            </a:avLst>
          </a:prstGeom>
          <a:solidFill>
            <a:srgbClr val="FBFAF6"/>
          </a:solidFill>
          <a:ln w="6350">
            <a:solidFill>
              <a:srgbClr val="DAD7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5680" y="3411221"/>
            <a:ext cx="3146389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F5F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5,6 mi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995680" y="4132582"/>
            <a:ext cx="314638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registros de Access Logs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88882" y="3231514"/>
            <a:ext cx="3414236" cy="1355090"/>
          </a:xfrm>
          <a:prstGeom prst="roundRect">
            <a:avLst>
              <a:gd name="adj" fmla="val 7263"/>
            </a:avLst>
          </a:prstGeom>
          <a:solidFill>
            <a:srgbClr val="FBFAF6"/>
          </a:solidFill>
          <a:ln w="6350">
            <a:solidFill>
              <a:srgbClr val="DAD7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68587" y="3411221"/>
            <a:ext cx="3146471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F5F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4800" dirty="0"/>
          </a:p>
        </p:txBody>
      </p:sp>
      <p:sp>
        <p:nvSpPr>
          <p:cNvPr id="27" name="Text 25"/>
          <p:cNvSpPr/>
          <p:nvPr/>
        </p:nvSpPr>
        <p:spPr>
          <a:xfrm>
            <a:off x="4568587" y="4132582"/>
            <a:ext cx="314647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recursos de produção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961868" y="3231514"/>
            <a:ext cx="3414157" cy="1355090"/>
          </a:xfrm>
          <a:prstGeom prst="roundRect">
            <a:avLst>
              <a:gd name="adj" fmla="val 7263"/>
            </a:avLst>
          </a:prstGeom>
          <a:solidFill>
            <a:srgbClr val="FBFAF6"/>
          </a:solidFill>
          <a:ln w="6350">
            <a:solidFill>
              <a:srgbClr val="DAD7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41574" y="3411221"/>
            <a:ext cx="3146389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F5F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meses</a:t>
            </a:r>
            <a:endParaRPr lang="en-US" sz="4800" dirty="0"/>
          </a:p>
        </p:txBody>
      </p:sp>
      <p:sp>
        <p:nvSpPr>
          <p:cNvPr id="30" name="Text 28"/>
          <p:cNvSpPr/>
          <p:nvPr/>
        </p:nvSpPr>
        <p:spPr>
          <a:xfrm>
            <a:off x="8141574" y="4132582"/>
            <a:ext cx="314638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maio a setembro de 2026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1850" y="4843782"/>
            <a:ext cx="0" cy="274320"/>
          </a:xfrm>
          <a:prstGeom prst="line">
            <a:avLst/>
          </a:prstGeom>
          <a:noFill/>
          <a:ln w="38100">
            <a:solidFill>
              <a:srgbClr val="1F5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5360" y="4843782"/>
            <a:ext cx="1071595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vazamento: perfil e limites ajustados só com dados anteriores a cada mês de teste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286240" y="6238239"/>
            <a:ext cx="20929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[Slide 4 de 12]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F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QUALIDADE TÉCNICA · MODELO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Modelo de normalidade contextual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31850" y="2448561"/>
            <a:ext cx="0" cy="274320"/>
          </a:xfrm>
          <a:prstGeom prst="line">
            <a:avLst/>
          </a:prstGeom>
          <a:noFill/>
          <a:ln w="38100">
            <a:solidFill>
              <a:srgbClr val="1F5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5360" y="2448561"/>
            <a:ext cx="506496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Contexto = hora × tipo de dia (útil ou não útil)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1850" y="2849882"/>
            <a:ext cx="0" cy="548640"/>
          </a:xfrm>
          <a:prstGeom prst="line">
            <a:avLst/>
          </a:prstGeom>
          <a:noFill/>
          <a:ln w="38100">
            <a:solidFill>
              <a:srgbClr val="1F5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5360" y="2849882"/>
            <a:ext cx="5064963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Perfil por recurso: mediana e MAD de volume, 4xx, 5xx e p95 de latência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1850" y="3525521"/>
            <a:ext cx="0" cy="548640"/>
          </a:xfrm>
          <a:prstGeom prst="line">
            <a:avLst/>
          </a:prstGeom>
          <a:noFill/>
          <a:ln w="38100">
            <a:solidFill>
              <a:srgbClr val="1F5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5360" y="3525521"/>
            <a:ext cx="5064963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Limite próprio por indicador: percentil 99 fora da amostra, mínimo 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1850" y="4201161"/>
            <a:ext cx="0" cy="548640"/>
          </a:xfrm>
          <a:prstGeom prst="line">
            <a:avLst/>
          </a:prstGeom>
          <a:noFill/>
          <a:ln w="38100">
            <a:solidFill>
              <a:srgbClr val="B545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5360" y="4201161"/>
            <a:ext cx="5064963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Residual se algum indicador passa do limite; o que mais passou é o responsável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99200" y="1803400"/>
            <a:ext cx="5080000" cy="919480"/>
          </a:xfrm>
          <a:prstGeom prst="roundRect">
            <a:avLst>
              <a:gd name="adj" fmla="val 11050"/>
            </a:avLst>
          </a:prstGeom>
          <a:solidFill>
            <a:srgbClr val="14213D"/>
          </a:solidFill>
          <a:ln/>
        </p:spPr>
      </p:sp>
      <p:sp>
        <p:nvSpPr>
          <p:cNvPr id="13" name="Text 11"/>
          <p:cNvSpPr/>
          <p:nvPr/>
        </p:nvSpPr>
        <p:spPr>
          <a:xfrm>
            <a:off x="6502400" y="1981200"/>
            <a:ext cx="48138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FB0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DESVIO ROBUSTO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02400" y="2270761"/>
            <a:ext cx="481380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 = (x − mediana) / (1,4826 · MAD)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02375" y="2878457"/>
            <a:ext cx="5073650" cy="2513330"/>
          </a:xfrm>
          <a:prstGeom prst="roundRect">
            <a:avLst>
              <a:gd name="adj" fmla="val 3916"/>
            </a:avLst>
          </a:prstGeom>
          <a:solidFill>
            <a:srgbClr val="FBFAF6"/>
          </a:solidFill>
          <a:ln w="6350">
            <a:solidFill>
              <a:srgbClr val="DAD7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7480" y="3058161"/>
            <a:ext cx="480334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Limite por indicador (z, faixa de 15 min, histórico jun–ago)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07480" y="3373121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recurso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67880" y="3373121"/>
            <a:ext cx="10071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volume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74990" y="3373121"/>
            <a:ext cx="10071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erros 4xx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82100" y="3373121"/>
            <a:ext cx="10071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erros 5xx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189210" y="3373121"/>
            <a:ext cx="10071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latência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07480" y="3672839"/>
            <a:ext cx="685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E01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93280" y="3637282"/>
            <a:ext cx="956310" cy="355600"/>
          </a:xfrm>
          <a:prstGeom prst="roundRect">
            <a:avLst>
              <a:gd name="adj" fmla="val 14286"/>
            </a:avLst>
          </a:prstGeom>
          <a:solidFill>
            <a:srgbClr val="B9CDE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00390" y="3637282"/>
            <a:ext cx="956310" cy="355600"/>
          </a:xfrm>
          <a:prstGeom prst="roundRect">
            <a:avLst>
              <a:gd name="adj" fmla="val 14286"/>
            </a:avLst>
          </a:prstGeom>
          <a:solidFill>
            <a:srgbClr val="B9CDE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07500" y="3637282"/>
            <a:ext cx="956310" cy="355600"/>
          </a:xfrm>
          <a:prstGeom prst="roundRect">
            <a:avLst>
              <a:gd name="adj" fmla="val 14286"/>
            </a:avLst>
          </a:prstGeom>
          <a:solidFill>
            <a:srgbClr val="E3EAF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214610" y="3637282"/>
            <a:ext cx="956310" cy="355600"/>
          </a:xfrm>
          <a:prstGeom prst="roundRect">
            <a:avLst>
              <a:gd name="adj" fmla="val 14286"/>
            </a:avLst>
          </a:prstGeom>
          <a:solidFill>
            <a:srgbClr val="B9CDE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07480" y="4079239"/>
            <a:ext cx="685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E02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93280" y="4043682"/>
            <a:ext cx="956310" cy="355600"/>
          </a:xfrm>
          <a:prstGeom prst="roundRect">
            <a:avLst>
              <a:gd name="adj" fmla="val 14286"/>
            </a:avLst>
          </a:prstGeom>
          <a:solidFill>
            <a:srgbClr val="E3EAF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00390" y="4043682"/>
            <a:ext cx="956310" cy="355600"/>
          </a:xfrm>
          <a:prstGeom prst="roundRect">
            <a:avLst>
              <a:gd name="adj" fmla="val 14286"/>
            </a:avLst>
          </a:prstGeom>
          <a:solidFill>
            <a:srgbClr val="E3EAF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207500" y="4043682"/>
            <a:ext cx="956310" cy="355600"/>
          </a:xfrm>
          <a:prstGeom prst="roundRect">
            <a:avLst>
              <a:gd name="adj" fmla="val 14286"/>
            </a:avLst>
          </a:prstGeom>
          <a:solidFill>
            <a:srgbClr val="E3EAF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214610" y="4043682"/>
            <a:ext cx="956310" cy="355600"/>
          </a:xfrm>
          <a:prstGeom prst="roundRect">
            <a:avLst>
              <a:gd name="adj" fmla="val 14286"/>
            </a:avLst>
          </a:prstGeom>
          <a:solidFill>
            <a:srgbClr val="14285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38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07480" y="4485639"/>
            <a:ext cx="685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E04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93280" y="4450082"/>
            <a:ext cx="956310" cy="355600"/>
          </a:xfrm>
          <a:prstGeom prst="roundRect">
            <a:avLst>
              <a:gd name="adj" fmla="val 14286"/>
            </a:avLst>
          </a:prstGeom>
          <a:solidFill>
            <a:srgbClr val="E3EAF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00390" y="4450082"/>
            <a:ext cx="956310" cy="355600"/>
          </a:xfrm>
          <a:prstGeom prst="roundRect">
            <a:avLst>
              <a:gd name="adj" fmla="val 14286"/>
            </a:avLst>
          </a:prstGeom>
          <a:solidFill>
            <a:srgbClr val="14285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207500" y="4450082"/>
            <a:ext cx="956310" cy="355600"/>
          </a:xfrm>
          <a:prstGeom prst="roundRect">
            <a:avLst>
              <a:gd name="adj" fmla="val 14286"/>
            </a:avLst>
          </a:prstGeom>
          <a:solidFill>
            <a:srgbClr val="E3EAF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214610" y="4450082"/>
            <a:ext cx="956310" cy="355600"/>
          </a:xfrm>
          <a:prstGeom prst="roundRect">
            <a:avLst>
              <a:gd name="adj" fmla="val 14286"/>
            </a:avLst>
          </a:prstGeom>
          <a:solidFill>
            <a:srgbClr val="B9CDE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07480" y="4892039"/>
            <a:ext cx="685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E10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193280" y="4856482"/>
            <a:ext cx="956310" cy="355600"/>
          </a:xfrm>
          <a:prstGeom prst="roundRect">
            <a:avLst>
              <a:gd name="adj" fmla="val 14286"/>
            </a:avLst>
          </a:prstGeom>
          <a:solidFill>
            <a:srgbClr val="E3EAF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00390" y="4856482"/>
            <a:ext cx="956310" cy="355600"/>
          </a:xfrm>
          <a:prstGeom prst="roundRect">
            <a:avLst>
              <a:gd name="adj" fmla="val 14286"/>
            </a:avLst>
          </a:prstGeom>
          <a:solidFill>
            <a:srgbClr val="E3EAF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207500" y="4856482"/>
            <a:ext cx="956310" cy="355600"/>
          </a:xfrm>
          <a:prstGeom prst="roundRect">
            <a:avLst>
              <a:gd name="adj" fmla="val 14286"/>
            </a:avLst>
          </a:prstGeom>
          <a:solidFill>
            <a:srgbClr val="B9CDE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214610" y="4856482"/>
            <a:ext cx="956310" cy="355600"/>
          </a:xfrm>
          <a:prstGeom prst="roundRect">
            <a:avLst>
              <a:gd name="adj" fmla="val 14286"/>
            </a:avLst>
          </a:prstGeom>
          <a:solidFill>
            <a:srgbClr val="E3EAF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286240" y="6238239"/>
            <a:ext cx="20929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[Slide 5 de 12]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F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QUALIDADE TÉCNICA · DIAGNÓSTICO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Expansão retroativa: desde quando?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8510" y="1803400"/>
            <a:ext cx="23545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início real (60 min antes)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2800" y="2092961"/>
            <a:ext cx="1678464" cy="899160"/>
          </a:xfrm>
          <a:prstGeom prst="roundRect">
            <a:avLst>
              <a:gd name="adj" fmla="val 8475"/>
            </a:avLst>
          </a:prstGeom>
          <a:solidFill>
            <a:srgbClr val="DCE6F7"/>
          </a:solidFill>
          <a:ln/>
        </p:spPr>
      </p:sp>
      <p:sp>
        <p:nvSpPr>
          <p:cNvPr id="6" name="Text 4"/>
          <p:cNvSpPr/>
          <p:nvPr/>
        </p:nvSpPr>
        <p:spPr>
          <a:xfrm>
            <a:off x="965200" y="2245361"/>
            <a:ext cx="1424464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Normal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5200" y="2555239"/>
            <a:ext cx="1424464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0,2× limite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7464" y="2092961"/>
            <a:ext cx="1678543" cy="899160"/>
          </a:xfrm>
          <a:prstGeom prst="roundRect">
            <a:avLst>
              <a:gd name="adj" fmla="val 8475"/>
            </a:avLst>
          </a:prstGeom>
          <a:solidFill>
            <a:srgbClr val="DCE6F7"/>
          </a:solidFill>
          <a:ln/>
        </p:spPr>
      </p:sp>
      <p:sp>
        <p:nvSpPr>
          <p:cNvPr id="9" name="Text 7"/>
          <p:cNvSpPr/>
          <p:nvPr/>
        </p:nvSpPr>
        <p:spPr>
          <a:xfrm>
            <a:off x="2719864" y="2245361"/>
            <a:ext cx="142454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Normal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19864" y="2555239"/>
            <a:ext cx="142454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0,2× limite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22207" y="2092961"/>
            <a:ext cx="1678464" cy="899160"/>
          </a:xfrm>
          <a:prstGeom prst="roundRect">
            <a:avLst>
              <a:gd name="adj" fmla="val 8475"/>
            </a:avLst>
          </a:prstGeom>
          <a:solidFill>
            <a:srgbClr val="DCE6F7"/>
          </a:solidFill>
          <a:ln/>
        </p:spPr>
      </p:sp>
      <p:sp>
        <p:nvSpPr>
          <p:cNvPr id="12" name="Text 10"/>
          <p:cNvSpPr/>
          <p:nvPr/>
        </p:nvSpPr>
        <p:spPr>
          <a:xfrm>
            <a:off x="4474607" y="2245361"/>
            <a:ext cx="1424464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Normal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74607" y="2555239"/>
            <a:ext cx="1424464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0,3× limite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76871" y="2092961"/>
            <a:ext cx="38100" cy="8991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5" name="Shape 13"/>
          <p:cNvSpPr/>
          <p:nvPr/>
        </p:nvSpPr>
        <p:spPr>
          <a:xfrm>
            <a:off x="6191171" y="2092961"/>
            <a:ext cx="1678543" cy="899160"/>
          </a:xfrm>
          <a:prstGeom prst="roundRect">
            <a:avLst>
              <a:gd name="adj" fmla="val 8475"/>
            </a:avLst>
          </a:prstGeom>
          <a:solidFill>
            <a:srgbClr val="B5451B"/>
          </a:solidFill>
          <a:ln/>
        </p:spPr>
      </p:sp>
      <p:sp>
        <p:nvSpPr>
          <p:cNvPr id="16" name="Text 14"/>
          <p:cNvSpPr/>
          <p:nvPr/>
        </p:nvSpPr>
        <p:spPr>
          <a:xfrm>
            <a:off x="6343571" y="2245361"/>
            <a:ext cx="142454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Residual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43571" y="2555239"/>
            <a:ext cx="142454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1,3× limite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45914" y="2092961"/>
            <a:ext cx="1678543" cy="899160"/>
          </a:xfrm>
          <a:prstGeom prst="roundRect">
            <a:avLst>
              <a:gd name="adj" fmla="val 8475"/>
            </a:avLst>
          </a:prstGeom>
          <a:solidFill>
            <a:srgbClr val="B5451B"/>
          </a:solidFill>
          <a:ln/>
        </p:spPr>
      </p:sp>
      <p:sp>
        <p:nvSpPr>
          <p:cNvPr id="19" name="Text 17"/>
          <p:cNvSpPr/>
          <p:nvPr/>
        </p:nvSpPr>
        <p:spPr>
          <a:xfrm>
            <a:off x="8098314" y="2245361"/>
            <a:ext cx="142454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Residual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98314" y="2555239"/>
            <a:ext cx="142454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1,1× limite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700657" y="2092961"/>
            <a:ext cx="1678543" cy="899160"/>
          </a:xfrm>
          <a:prstGeom prst="roundRect">
            <a:avLst>
              <a:gd name="adj" fmla="val 8475"/>
            </a:avLst>
          </a:prstGeom>
          <a:solidFill>
            <a:srgbClr val="B5451B"/>
          </a:solidFill>
          <a:ln/>
        </p:spPr>
      </p:sp>
      <p:sp>
        <p:nvSpPr>
          <p:cNvPr id="22" name="Text 20"/>
          <p:cNvSpPr/>
          <p:nvPr/>
        </p:nvSpPr>
        <p:spPr>
          <a:xfrm>
            <a:off x="9853057" y="2245361"/>
            <a:ext cx="142454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Residual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853057" y="2555239"/>
            <a:ext cx="142454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1,0× limite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87337" y="3068321"/>
            <a:ext cx="174843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180–240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61050" y="3068321"/>
            <a:ext cx="17485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120–180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34844" y="3068321"/>
            <a:ext cx="174843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60–120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08557" y="3068321"/>
            <a:ext cx="17485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30–60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882350" y="3068321"/>
            <a:ext cx="17485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15–30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56143" y="3068321"/>
            <a:ext cx="17485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0–15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2800" y="335788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Minutos antes do registro. Cenário E12: 5xx generalizado (intensidade média), iniciado 60 min antes. Figura 10 do artigo.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1850" y="3825239"/>
            <a:ext cx="0" cy="274320"/>
          </a:xfrm>
          <a:prstGeom prst="line">
            <a:avLst/>
          </a:prstGeom>
          <a:noFill/>
          <a:ln w="38100">
            <a:solidFill>
              <a:srgbClr val="1F5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5360" y="3825239"/>
            <a:ext cx="1071595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faixa dos 15 min anteriores decide o estado e o indicador responsável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1850" y="4201161"/>
            <a:ext cx="0" cy="274320"/>
          </a:xfrm>
          <a:prstGeom prst="line">
            <a:avLst/>
          </a:prstGeom>
          <a:noFill/>
          <a:ln w="38100">
            <a:solidFill>
              <a:srgbClr val="1F5F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5360" y="4201161"/>
            <a:ext cx="1071595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Residual, olha para trás em faixas de até 4 h e para na primeira NoRmal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1850" y="4577082"/>
            <a:ext cx="0" cy="274320"/>
          </a:xfrm>
          <a:prstGeom prst="line">
            <a:avLst/>
          </a:prstGeom>
          <a:noFill/>
          <a:ln w="38100">
            <a:solidFill>
              <a:srgbClr val="1F5F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5360" y="4577082"/>
            <a:ext cx="1071595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Resposta ao operador: o desvio começou entre 30 e 120 min antes do registro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286240" y="6238239"/>
            <a:ext cx="20929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[Slide 6 de 12]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F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EXPERIMENTOS · PROTOCOLO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12.157 consultas simuladas, quatro experimentos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2571115" cy="436880"/>
          </a:xfrm>
          <a:prstGeom prst="roundRect">
            <a:avLst>
              <a:gd name="adj" fmla="val 17442"/>
            </a:avLst>
          </a:prstGeom>
          <a:solidFill>
            <a:srgbClr val="14213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 motivo × intensidade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536315" y="1844039"/>
            <a:ext cx="203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×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841115" y="1803400"/>
            <a:ext cx="1171813" cy="436880"/>
          </a:xfrm>
          <a:prstGeom prst="roundRect">
            <a:avLst>
              <a:gd name="adj" fmla="val 17442"/>
            </a:avLst>
          </a:prstGeom>
          <a:solidFill>
            <a:srgbClr val="14213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atrasos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65328" y="1844039"/>
            <a:ext cx="203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×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70128" y="1803400"/>
            <a:ext cx="1223724" cy="436880"/>
          </a:xfrm>
          <a:prstGeom prst="roundRect">
            <a:avLst>
              <a:gd name="adj" fmla="val 17442"/>
            </a:avLst>
          </a:prstGeom>
          <a:solidFill>
            <a:srgbClr val="14213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réplicas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46253" y="1844039"/>
            <a:ext cx="203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×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151053" y="1803400"/>
            <a:ext cx="1774349" cy="436880"/>
          </a:xfrm>
          <a:prstGeom prst="roundRect">
            <a:avLst>
              <a:gd name="adj" fmla="val 17442"/>
            </a:avLst>
          </a:prstGeom>
          <a:solidFill>
            <a:srgbClr val="14213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 recurso·mês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2357121"/>
            <a:ext cx="203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=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7600" y="2316482"/>
            <a:ext cx="1881505" cy="436880"/>
          </a:xfrm>
          <a:prstGeom prst="roundRect">
            <a:avLst>
              <a:gd name="adj" fmla="val 17442"/>
            </a:avLst>
          </a:prstGeom>
          <a:solidFill>
            <a:srgbClr val="1F5FB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6.077 incidentes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51505" y="2357121"/>
            <a:ext cx="203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56305" y="2316482"/>
            <a:ext cx="1782048" cy="436880"/>
          </a:xfrm>
          <a:prstGeom prst="roundRect">
            <a:avLst>
              <a:gd name="adj" fmla="val 17442"/>
            </a:avLst>
          </a:prstGeom>
          <a:solidFill>
            <a:srgbClr val="1F5FB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6.080 controles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90753" y="2357121"/>
            <a:ext cx="203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=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695553" y="2316482"/>
            <a:ext cx="1930797" cy="436880"/>
          </a:xfrm>
          <a:prstGeom prst="roundRect">
            <a:avLst>
              <a:gd name="adj" fmla="val 17442"/>
            </a:avLst>
          </a:prstGeom>
          <a:solidFill>
            <a:srgbClr val="1F5FB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12.157 consultas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5975" y="3010536"/>
            <a:ext cx="2005330" cy="1060450"/>
          </a:xfrm>
          <a:prstGeom prst="roundRect">
            <a:avLst>
              <a:gd name="adj" fmla="val 9281"/>
            </a:avLst>
          </a:prstGeom>
          <a:solidFill>
            <a:srgbClr val="FBFAF6"/>
          </a:solidFill>
          <a:ln w="6350">
            <a:solidFill>
              <a:srgbClr val="DAD7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0280" y="3164839"/>
            <a:ext cx="174762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4xx generalizado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70280" y="3459482"/>
            <a:ext cx="174762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5% / 15% / 40%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54655" y="3010536"/>
            <a:ext cx="2005330" cy="1060450"/>
          </a:xfrm>
          <a:prstGeom prst="roundRect">
            <a:avLst>
              <a:gd name="adj" fmla="val 9281"/>
            </a:avLst>
          </a:prstGeom>
          <a:solidFill>
            <a:srgbClr val="FBFAF6"/>
          </a:solidFill>
          <a:ln w="6350">
            <a:solidFill>
              <a:srgbClr val="DAD7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3164839"/>
            <a:ext cx="1747622" cy="51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4xx de 1 consumidor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108960" y="3703321"/>
            <a:ext cx="174762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30% / 60% / 90%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93335" y="3010536"/>
            <a:ext cx="2005330" cy="1060450"/>
          </a:xfrm>
          <a:prstGeom prst="roundRect">
            <a:avLst>
              <a:gd name="adj" fmla="val 9281"/>
            </a:avLst>
          </a:prstGeom>
          <a:solidFill>
            <a:srgbClr val="FBFAF6"/>
          </a:solidFill>
          <a:ln w="6350">
            <a:solidFill>
              <a:srgbClr val="DAD7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47640" y="3164839"/>
            <a:ext cx="174762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5xx generalizado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47640" y="3459482"/>
            <a:ext cx="174762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5% / 15% / 40%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232015" y="3010536"/>
            <a:ext cx="2005330" cy="1060450"/>
          </a:xfrm>
          <a:prstGeom prst="roundRect">
            <a:avLst>
              <a:gd name="adj" fmla="val 9281"/>
            </a:avLst>
          </a:prstGeom>
          <a:solidFill>
            <a:srgbClr val="FBFAF6"/>
          </a:solidFill>
          <a:ln w="6350">
            <a:solidFill>
              <a:srgbClr val="DAD7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86320" y="3164839"/>
            <a:ext cx="1747622" cy="51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5xx de 1 consumidor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86320" y="3703321"/>
            <a:ext cx="174762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30% / 60% / 90%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370695" y="3010536"/>
            <a:ext cx="2005330" cy="1060450"/>
          </a:xfrm>
          <a:prstGeom prst="roundRect">
            <a:avLst>
              <a:gd name="adj" fmla="val 9281"/>
            </a:avLst>
          </a:prstGeom>
          <a:solidFill>
            <a:srgbClr val="FBFAF6"/>
          </a:solidFill>
          <a:ln w="6350">
            <a:solidFill>
              <a:srgbClr val="DAD7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25000" y="3164839"/>
            <a:ext cx="174762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Latência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525000" y="3459482"/>
            <a:ext cx="174762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×1,5 / ×2,5 / ×4 / ×10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31850" y="4328164"/>
            <a:ext cx="0" cy="274320"/>
          </a:xfrm>
          <a:prstGeom prst="line">
            <a:avLst/>
          </a:prstGeom>
          <a:noFill/>
          <a:ln w="38100">
            <a:solidFill>
              <a:srgbClr val="1F5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5360" y="4328164"/>
            <a:ext cx="1071595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Teste em agosto (7 recursos) e de 1 a 19 de setembro (12 recursos)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1850" y="4704079"/>
            <a:ext cx="0" cy="274320"/>
          </a:xfrm>
          <a:prstGeom prst="line">
            <a:avLst/>
          </a:prstGeom>
          <a:noFill/>
          <a:ln w="38100">
            <a:solidFill>
              <a:srgbClr val="1F5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5360" y="4704079"/>
            <a:ext cx="1071595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Exp. 1 regimes · Exp. 2 estado · Exp. 3 indicador e início · Exp. 4 histórico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286240" y="6238242"/>
            <a:ext cx="20929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[Slide 7 de 12]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F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EXPERIMENTOS · EXP. 1: REGIMES (RQ1)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Cada recurso tem vários regimes normais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052954"/>
            <a:ext cx="313944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F5F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96%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12800" y="2637154"/>
            <a:ext cx="3139440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dos testes de Kruskal-Wallis significativos nos dias úteis (Bonferroni)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3560446"/>
            <a:ext cx="313944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F5F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a 8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12800" y="4144646"/>
            <a:ext cx="313944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regimes por recurso no k-means, sem usar o contexto (silhouette 0,51)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65600" y="1803400"/>
            <a:ext cx="7213600" cy="27813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</p:spPr>
      </p:sp>
      <p:pic>
        <p:nvPicPr>
          <p:cNvPr id="9" name="Image 0" descr="Regime predominante por hora e tipo de dia no recurso E02: regime R4 de volume médio e 5xx alto à 0h, R5 de volume alto das 8 às 17h e 19h em dias úteis, R3 e R1 nos demais horários">    </p:cNvPr>
          <p:cNvPicPr>
            <a:picLocks noChangeAspect="1"/>
          </p:cNvPicPr>
          <p:nvPr/>
        </p:nvPicPr>
        <p:blipFill>
          <a:blip r:embed="rId1"/>
          <a:srcRect l="-142" r="-142" t="0" b="0"/>
          <a:stretch/>
        </p:blipFill>
        <p:spPr>
          <a:xfrm>
            <a:off x="4171950" y="1809750"/>
            <a:ext cx="7200900" cy="2768600"/>
          </a:xfrm>
          <a:prstGeom prst="roundRect">
            <a:avLst>
              <a:gd name="adj" fmla="val 2523"/>
            </a:avLst>
          </a:prstGeom>
        </p:spPr>
      </p:pic>
      <p:sp>
        <p:nvSpPr>
          <p:cNvPr id="10" name="Shape 7"/>
          <p:cNvSpPr/>
          <p:nvPr/>
        </p:nvSpPr>
        <p:spPr>
          <a:xfrm>
            <a:off x="4168775" y="1806575"/>
            <a:ext cx="7207250" cy="2774950"/>
          </a:xfrm>
          <a:prstGeom prst="roundRect">
            <a:avLst>
              <a:gd name="adj" fmla="val 2632"/>
            </a:avLst>
          </a:prstGeom>
          <a:noFill/>
          <a:ln w="6350">
            <a:solidFill>
              <a:srgbClr val="DAD7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65600" y="4660900"/>
            <a:ext cx="74300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Regime predominante por hora no recurso E02. Figura 3 do artigo.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31850" y="5128264"/>
            <a:ext cx="0" cy="240030"/>
          </a:xfrm>
          <a:prstGeom prst="line">
            <a:avLst/>
          </a:prstGeom>
          <a:noFill/>
          <a:ln w="38100">
            <a:solidFill>
              <a:srgbClr val="B5451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5360" y="5128264"/>
            <a:ext cx="10715955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E02, o regime R4 tem 5xx alto à 0h: é normal para o horário, e um limite fixo o trataria como falha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286240" y="6238242"/>
            <a:ext cx="20929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[Slide 8 de 12]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F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EXPERIMENTOS · EXP. 2: ESTADO NO REGISTRO (RQ1, RQ3)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Poucos alarmes falsos; detecção depende do motivo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098675"/>
            <a:ext cx="340106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F5F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97,1%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12800" y="2682875"/>
            <a:ext cx="340106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dos controles corretos (especificidade)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3126104"/>
            <a:ext cx="340106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B5451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39,3%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12800" y="3710304"/>
            <a:ext cx="340106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dos incidentes detectados (43,2% em média/alta)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22775" y="1806575"/>
            <a:ext cx="6953250" cy="2675890"/>
          </a:xfrm>
          <a:prstGeom prst="roundRect">
            <a:avLst>
              <a:gd name="adj" fmla="val 3678"/>
            </a:avLst>
          </a:prstGeom>
          <a:solidFill>
            <a:srgbClr val="FBFAF6"/>
          </a:solidFill>
          <a:ln w="6350">
            <a:solidFill>
              <a:srgbClr val="DAD7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7880" y="1986279"/>
            <a:ext cx="673933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Sensibilidade por motivo, maior intensidade (faixa de 15 min)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27880" y="2319021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5xx generalizado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34480" y="2336800"/>
            <a:ext cx="2349500" cy="177800"/>
          </a:xfrm>
          <a:prstGeom prst="roundRect">
            <a:avLst>
              <a:gd name="adj" fmla="val 21429"/>
            </a:avLst>
          </a:prstGeom>
          <a:solidFill>
            <a:srgbClr val="1F5FBF"/>
          </a:solidFill>
          <a:ln/>
        </p:spPr>
      </p:sp>
      <p:sp>
        <p:nvSpPr>
          <p:cNvPr id="12" name="Text 10"/>
          <p:cNvSpPr/>
          <p:nvPr/>
        </p:nvSpPr>
        <p:spPr>
          <a:xfrm>
            <a:off x="9085580" y="2301242"/>
            <a:ext cx="622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88%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27880" y="2669542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5xx de 1 consumidor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34480" y="2687321"/>
            <a:ext cx="1657350" cy="177800"/>
          </a:xfrm>
          <a:prstGeom prst="roundRect">
            <a:avLst>
              <a:gd name="adj" fmla="val 21429"/>
            </a:avLst>
          </a:prstGeom>
          <a:solidFill>
            <a:srgbClr val="1F5FBF"/>
          </a:solidFill>
          <a:ln/>
        </p:spPr>
      </p:sp>
      <p:sp>
        <p:nvSpPr>
          <p:cNvPr id="15" name="Text 13"/>
          <p:cNvSpPr/>
          <p:nvPr/>
        </p:nvSpPr>
        <p:spPr>
          <a:xfrm>
            <a:off x="8393430" y="2651764"/>
            <a:ext cx="622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62%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27880" y="3020064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latência ×10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34480" y="3037842"/>
            <a:ext cx="1625600" cy="177800"/>
          </a:xfrm>
          <a:prstGeom prst="roundRect">
            <a:avLst>
              <a:gd name="adj" fmla="val 21429"/>
            </a:avLst>
          </a:prstGeom>
          <a:solidFill>
            <a:srgbClr val="1F5FBF"/>
          </a:solidFill>
          <a:ln/>
        </p:spPr>
      </p:sp>
      <p:sp>
        <p:nvSpPr>
          <p:cNvPr id="18" name="Text 16"/>
          <p:cNvSpPr/>
          <p:nvPr/>
        </p:nvSpPr>
        <p:spPr>
          <a:xfrm>
            <a:off x="8361680" y="3002279"/>
            <a:ext cx="622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61%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27880" y="3370579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latência ×4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34480" y="3388364"/>
            <a:ext cx="958850" cy="177800"/>
          </a:xfrm>
          <a:prstGeom prst="roundRect">
            <a:avLst>
              <a:gd name="adj" fmla="val 21429"/>
            </a:avLst>
          </a:prstGeom>
          <a:solidFill>
            <a:srgbClr val="B5451B"/>
          </a:solidFill>
          <a:ln/>
        </p:spPr>
      </p:sp>
      <p:sp>
        <p:nvSpPr>
          <p:cNvPr id="21" name="Text 19"/>
          <p:cNvSpPr/>
          <p:nvPr/>
        </p:nvSpPr>
        <p:spPr>
          <a:xfrm>
            <a:off x="7694930" y="3352800"/>
            <a:ext cx="622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36%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27880" y="3721100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4xx generalizado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34480" y="3738879"/>
            <a:ext cx="908050" cy="177800"/>
          </a:xfrm>
          <a:prstGeom prst="roundRect">
            <a:avLst>
              <a:gd name="adj" fmla="val 21429"/>
            </a:avLst>
          </a:prstGeom>
          <a:solidFill>
            <a:srgbClr val="B5451B"/>
          </a:solidFill>
          <a:ln/>
        </p:spPr>
      </p:sp>
      <p:sp>
        <p:nvSpPr>
          <p:cNvPr id="24" name="Text 22"/>
          <p:cNvSpPr/>
          <p:nvPr/>
        </p:nvSpPr>
        <p:spPr>
          <a:xfrm>
            <a:off x="7644130" y="3703321"/>
            <a:ext cx="622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34%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27880" y="4071621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4xx de 1 consumidor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34480" y="4089400"/>
            <a:ext cx="641350" cy="177800"/>
          </a:xfrm>
          <a:prstGeom prst="roundRect">
            <a:avLst>
              <a:gd name="adj" fmla="val 21429"/>
            </a:avLst>
          </a:prstGeom>
          <a:solidFill>
            <a:srgbClr val="B5451B"/>
          </a:solidFill>
          <a:ln/>
        </p:spPr>
      </p:sp>
      <p:sp>
        <p:nvSpPr>
          <p:cNvPr id="27" name="Text 25"/>
          <p:cNvSpPr/>
          <p:nvPr/>
        </p:nvSpPr>
        <p:spPr>
          <a:xfrm>
            <a:off x="7377430" y="4053842"/>
            <a:ext cx="622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24%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31850" y="4739642"/>
            <a:ext cx="0" cy="240030"/>
          </a:xfrm>
          <a:prstGeom prst="line">
            <a:avLst/>
          </a:prstGeom>
          <a:noFill/>
          <a:ln w="38100">
            <a:solidFill>
              <a:srgbClr val="1F5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5360" y="4739642"/>
            <a:ext cx="10715955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Empata com os baselines em 15 min; supera o z-score global em 30 min (p = 0,009)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31850" y="5081271"/>
            <a:ext cx="0" cy="240030"/>
          </a:xfrm>
          <a:prstGeom prst="line">
            <a:avLst/>
          </a:prstGeom>
          <a:noFill/>
          <a:ln w="38100">
            <a:solidFill>
              <a:srgbClr val="1F5F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5360" y="5081271"/>
            <a:ext cx="10715955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RQ3: faixas de 15 e 30 min equivalentes (43,2% e 43,4%); a de 60 min fica em 41,0%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286240" y="6238242"/>
            <a:ext cx="20929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[Slide 9 de 12]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F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EXPERIMENTOS · EXP. 3: INDICADOR E INÍCIO (RQ2)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Quando sinaliza, a informação é confiável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058039"/>
            <a:ext cx="4028948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F5F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96,5%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12800" y="2642239"/>
            <a:ext cx="4028948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indicador responsável correto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3034667"/>
            <a:ext cx="4028948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F5F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91,7%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12800" y="3618867"/>
            <a:ext cx="4028948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início real dentro da zona estimada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4011296"/>
            <a:ext cx="4028948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F5F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76,3%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12800" y="4595496"/>
            <a:ext cx="4028948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abrangência correta (4xx e 5xx)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1803400"/>
            <a:ext cx="6350000" cy="2997200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/>
        </p:spPr>
      </p:sp>
      <p:pic>
        <p:nvPicPr>
          <p:cNvPr id="11" name="Image 0" descr="Documento JSON de saída da consulta para o recurso E12: estado Residual, indicador erros 5xx, 15,7% observado contra faixa normal de 0 a 1,7%, início entre 30 e 120 min antes, erro generalizado em 10 de 27 consumidores">    </p:cNvPr>
          <p:cNvPicPr>
            <a:picLocks noChangeAspect="1"/>
          </p:cNvPicPr>
          <p:nvPr/>
        </p:nvPicPr>
        <p:blipFill>
          <a:blip r:embed="rId1"/>
          <a:srcRect l="-68" r="-68" t="0" b="0"/>
          <a:stretch/>
        </p:blipFill>
        <p:spPr>
          <a:xfrm>
            <a:off x="5035550" y="1809750"/>
            <a:ext cx="6337300" cy="2984500"/>
          </a:xfrm>
          <a:prstGeom prst="roundRect">
            <a:avLst>
              <a:gd name="adj" fmla="val 2340"/>
            </a:avLst>
          </a:prstGeom>
        </p:spPr>
      </p:pic>
      <p:sp>
        <p:nvSpPr>
          <p:cNvPr id="12" name="Shape 9"/>
          <p:cNvSpPr/>
          <p:nvPr/>
        </p:nvSpPr>
        <p:spPr>
          <a:xfrm>
            <a:off x="5032375" y="1806575"/>
            <a:ext cx="6343650" cy="2990850"/>
          </a:xfrm>
          <a:prstGeom prst="roundRect">
            <a:avLst>
              <a:gd name="adj" fmla="val 2442"/>
            </a:avLst>
          </a:prstGeom>
          <a:noFill/>
          <a:ln w="6350">
            <a:solidFill>
              <a:srgbClr val="DAD7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0" y="4876800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Saída estruturada para o agente (resumida). Figura 12 do artigo.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31850" y="5344164"/>
            <a:ext cx="0" cy="240030"/>
          </a:xfrm>
          <a:prstGeom prst="line">
            <a:avLst/>
          </a:prstGeom>
          <a:noFill/>
          <a:ln w="38100">
            <a:solidFill>
              <a:srgbClr val="B5451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75360" y="5344164"/>
            <a:ext cx="10715955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Evento real no E02, 02/09 às 01h45: 4,1% de 5xx (normal até 1,1%), candidato a incidente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286240" y="6238242"/>
            <a:ext cx="20929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[Slide 10 de 12]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F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EXPERIMENTOS · EXP. 4: HISTÓRICO (RQ4)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Um mês de histórico superou três meses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06575"/>
            <a:ext cx="5124450" cy="3159760"/>
          </a:xfrm>
          <a:prstGeom prst="roundRect">
            <a:avLst>
              <a:gd name="adj" fmla="val 3115"/>
            </a:avLst>
          </a:prstGeom>
          <a:solidFill>
            <a:srgbClr val="FBFAF6"/>
          </a:solidFill>
          <a:ln w="6350">
            <a:solidFill>
              <a:srgbClr val="DAD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1986279"/>
            <a:ext cx="485566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Sensibilidade (faixa de 15 min) por mês de teste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8080" y="2301242"/>
            <a:ext cx="93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49,8%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73480" y="2600964"/>
            <a:ext cx="889000" cy="1581150"/>
          </a:xfrm>
          <a:prstGeom prst="roundRect">
            <a:avLst>
              <a:gd name="adj" fmla="val 5714"/>
            </a:avLst>
          </a:prstGeom>
          <a:solidFill>
            <a:srgbClr val="9FB5DD"/>
          </a:solidFill>
          <a:ln/>
        </p:spPr>
      </p:sp>
      <p:sp>
        <p:nvSpPr>
          <p:cNvPr id="8" name="Text 6"/>
          <p:cNvSpPr/>
          <p:nvPr/>
        </p:nvSpPr>
        <p:spPr>
          <a:xfrm>
            <a:off x="2138680" y="2364742"/>
            <a:ext cx="93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47,8%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64080" y="2664464"/>
            <a:ext cx="889000" cy="1517650"/>
          </a:xfrm>
          <a:prstGeom prst="roundRect">
            <a:avLst>
              <a:gd name="adj" fmla="val 5714"/>
            </a:avLst>
          </a:prstGeom>
          <a:solidFill>
            <a:srgbClr val="1F5FBF"/>
          </a:solidFill>
          <a:ln/>
        </p:spPr>
      </p:sp>
      <p:sp>
        <p:nvSpPr>
          <p:cNvPr id="10" name="Text 8"/>
          <p:cNvSpPr/>
          <p:nvPr/>
        </p:nvSpPr>
        <p:spPr>
          <a:xfrm>
            <a:off x="1145286" y="4258314"/>
            <a:ext cx="19359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agosto (7 recursos)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37280" y="2828292"/>
            <a:ext cx="93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33,2%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62680" y="3128014"/>
            <a:ext cx="889000" cy="1054100"/>
          </a:xfrm>
          <a:prstGeom prst="roundRect">
            <a:avLst>
              <a:gd name="adj" fmla="val 5714"/>
            </a:avLst>
          </a:prstGeom>
          <a:solidFill>
            <a:srgbClr val="9FB5DD"/>
          </a:solidFill>
          <a:ln/>
        </p:spPr>
      </p:sp>
      <p:sp>
        <p:nvSpPr>
          <p:cNvPr id="13" name="Text 11"/>
          <p:cNvSpPr/>
          <p:nvPr/>
        </p:nvSpPr>
        <p:spPr>
          <a:xfrm>
            <a:off x="4627880" y="2650492"/>
            <a:ext cx="93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38,8%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53280" y="2950214"/>
            <a:ext cx="889000" cy="1231900"/>
          </a:xfrm>
          <a:prstGeom prst="roundRect">
            <a:avLst>
              <a:gd name="adj" fmla="val 5714"/>
            </a:avLst>
          </a:prstGeom>
          <a:solidFill>
            <a:srgbClr val="1F5FBF"/>
          </a:solidFill>
          <a:ln/>
        </p:spPr>
      </p:sp>
      <p:sp>
        <p:nvSpPr>
          <p:cNvPr id="15" name="Text 13"/>
          <p:cNvSpPr/>
          <p:nvPr/>
        </p:nvSpPr>
        <p:spPr>
          <a:xfrm>
            <a:off x="3634486" y="4258314"/>
            <a:ext cx="19359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setembro (12 recursos)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21080" y="4616450"/>
            <a:ext cx="203200" cy="127000"/>
          </a:xfrm>
          <a:prstGeom prst="rect">
            <a:avLst/>
          </a:prstGeom>
          <a:solidFill>
            <a:srgbClr val="9FB5DD"/>
          </a:solidFill>
          <a:ln/>
        </p:spPr>
      </p:sp>
      <p:sp>
        <p:nvSpPr>
          <p:cNvPr id="17" name="Text 15"/>
          <p:cNvSpPr/>
          <p:nvPr/>
        </p:nvSpPr>
        <p:spPr>
          <a:xfrm>
            <a:off x="1300480" y="4573271"/>
            <a:ext cx="6524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meses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52943" y="4616450"/>
            <a:ext cx="203200" cy="127000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19" name="Text 17"/>
          <p:cNvSpPr/>
          <p:nvPr/>
        </p:nvSpPr>
        <p:spPr>
          <a:xfrm>
            <a:off x="2232343" y="4573271"/>
            <a:ext cx="5020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mês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7450" y="2098675"/>
            <a:ext cx="0" cy="548640"/>
          </a:xfrm>
          <a:prstGeom prst="line">
            <a:avLst/>
          </a:prstGeom>
          <a:noFill/>
          <a:ln w="38100">
            <a:solidFill>
              <a:srgbClr val="1F5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0960" y="2098675"/>
            <a:ext cx="5117287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 APIs mudam: no E02, erros 4xx foram de 32% (jul) a 62% (set)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7450" y="2774317"/>
            <a:ext cx="0" cy="548640"/>
          </a:xfrm>
          <a:prstGeom prst="line">
            <a:avLst/>
          </a:prstGeom>
          <a:noFill/>
          <a:ln w="38100">
            <a:solidFill>
              <a:srgbClr val="1F5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0960" y="2774317"/>
            <a:ext cx="5117287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 1 mês: sensibilidade 39,3% → 42,1%; especificidade 97,1% → 96,3%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67450" y="3449954"/>
            <a:ext cx="0" cy="548640"/>
          </a:xfrm>
          <a:prstGeom prst="line">
            <a:avLst/>
          </a:prstGeom>
          <a:noFill/>
          <a:ln w="38100">
            <a:solidFill>
              <a:srgbClr val="1F5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10960" y="3449954"/>
            <a:ext cx="5117287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mês melhor nos acertos de estado (McNemar, p &lt; 0,001)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67450" y="4125596"/>
            <a:ext cx="0" cy="548640"/>
          </a:xfrm>
          <a:prstGeom prst="line">
            <a:avLst/>
          </a:prstGeom>
          <a:noFill/>
          <a:ln w="38100">
            <a:solidFill>
              <a:srgbClr val="B5451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10960" y="4125596"/>
            <a:ext cx="5117287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Implicação: retreinar com frequência, com o histórico recente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86240" y="6238242"/>
            <a:ext cx="20929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[Slide 11 de 12]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F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CONCLUSÕES E TRABALHOS FUTUROS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Respostas às perguntas de pesquisa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31850" y="1803400"/>
            <a:ext cx="0" cy="514350"/>
          </a:xfrm>
          <a:prstGeom prst="line">
            <a:avLst/>
          </a:prstGeom>
          <a:noFill/>
          <a:ln w="38100">
            <a:solidFill>
              <a:srgbClr val="1F5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5360" y="1803400"/>
            <a:ext cx="506496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RQ1</a:t>
            </a:r>
            <a:r>
              <a:rPr lang="en-US" sz="15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Sim: regimes ligados à hora; especificidade de 97,1%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31850" y="2432050"/>
            <a:ext cx="0" cy="514350"/>
          </a:xfrm>
          <a:prstGeom prst="line">
            <a:avLst/>
          </a:prstGeom>
          <a:noFill/>
          <a:ln w="38100">
            <a:solidFill>
              <a:srgbClr val="1F5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5360" y="2432050"/>
            <a:ext cx="506496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RQ2</a:t>
            </a:r>
            <a:r>
              <a:rPr lang="en-US" sz="15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Indicador certo em 96,5%; início na zona em 91,7%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31850" y="3060700"/>
            <a:ext cx="0" cy="514350"/>
          </a:xfrm>
          <a:prstGeom prst="line">
            <a:avLst/>
          </a:prstGeom>
          <a:noFill/>
          <a:ln w="38100">
            <a:solidFill>
              <a:srgbClr val="1F5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5360" y="3060700"/>
            <a:ext cx="506496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RQ3</a:t>
            </a:r>
            <a:r>
              <a:rPr lang="en-US" sz="15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A faixa de 15 min decide; a expansão retroativa dá o horizonte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31850" y="3689350"/>
            <a:ext cx="0" cy="514350"/>
          </a:xfrm>
          <a:prstGeom prst="line">
            <a:avLst/>
          </a:prstGeom>
          <a:noFill/>
          <a:ln w="38100">
            <a:solidFill>
              <a:srgbClr val="1F5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5360" y="3689350"/>
            <a:ext cx="506496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RQ4</a:t>
            </a:r>
            <a:r>
              <a:rPr lang="en-US" sz="15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Não: 1 mês supera 3 meses; retreinar com frequência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31850" y="4318000"/>
            <a:ext cx="0" cy="514350"/>
          </a:xfrm>
          <a:prstGeom prst="line">
            <a:avLst/>
          </a:prstGeom>
          <a:noFill/>
          <a:ln w="38100">
            <a:solidFill>
              <a:srgbClr val="B545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5360" y="4318000"/>
            <a:ext cx="506496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Limites: sensibilidade de 39% e falhas sintéticas; o valor do contexto está na explicação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99200" y="1803400"/>
            <a:ext cx="5232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Trabalhos futuros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318250" y="2222500"/>
            <a:ext cx="0" cy="514350"/>
          </a:xfrm>
          <a:prstGeom prst="line">
            <a:avLst/>
          </a:prstGeom>
          <a:noFill/>
          <a:ln w="38100">
            <a:solidFill>
              <a:srgbClr val="1421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1760" y="2222500"/>
            <a:ext cx="506496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Validar com incidentes reais e operadores, a começar pelo E02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18250" y="2851150"/>
            <a:ext cx="0" cy="514350"/>
          </a:xfrm>
          <a:prstGeom prst="line">
            <a:avLst/>
          </a:prstGeom>
          <a:noFill/>
          <a:ln w="38100">
            <a:solidFill>
              <a:srgbClr val="1421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1760" y="2851150"/>
            <a:ext cx="506496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Janelas de histórico deslizantes, com mais peso no recente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18250" y="3479800"/>
            <a:ext cx="0" cy="257175"/>
          </a:xfrm>
          <a:prstGeom prst="line">
            <a:avLst/>
          </a:prstGeom>
          <a:noFill/>
          <a:ln w="38100">
            <a:solidFill>
              <a:srgbClr val="1421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1760" y="3479800"/>
            <a:ext cx="5064963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Percentil de latência por requisição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18250" y="3851275"/>
            <a:ext cx="0" cy="257175"/>
          </a:xfrm>
          <a:prstGeom prst="line">
            <a:avLst/>
          </a:prstGeom>
          <a:noFill/>
          <a:ln w="38100">
            <a:solidFill>
              <a:srgbClr val="1421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1760" y="3851275"/>
            <a:ext cx="5064963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Generalização para outras APIs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18250" y="4222750"/>
            <a:ext cx="0" cy="257175"/>
          </a:xfrm>
          <a:prstGeom prst="line">
            <a:avLst/>
          </a:prstGeom>
          <a:noFill/>
          <a:ln w="38100">
            <a:solidFill>
              <a:srgbClr val="1421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61760" y="4222750"/>
            <a:ext cx="5064963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Integrar como ferramenta de um agente de incidentes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86240" y="6238242"/>
            <a:ext cx="20929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[Slide 12 de 12]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F5F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PPCA · UNIVERSIDADE DE BRASÍLIA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2664464"/>
            <a:ext cx="762000" cy="50800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4" name="Text 2"/>
          <p:cNvSpPr/>
          <p:nvPr>
            <p:ph type="title"/>
          </p:nvPr>
        </p:nvSpPr>
        <p:spPr>
          <a:xfrm>
            <a:off x="812800" y="2918464"/>
            <a:ext cx="10883392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Obrigado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12800" y="3792221"/>
            <a:ext cx="108833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Perguntas e comentários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5760721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Diego Paz Casagrande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rmalidade Contextual em APIs">
  <a:themeElements>
    <a:clrScheme name="Normalidade Contextual em APIs">
      <a:dk1>
        <a:srgbClr val="14213D"/>
      </a:dk1>
      <a:lt1>
        <a:srgbClr val="F6F5F0"/>
      </a:lt1>
      <a:dk2>
        <a:srgbClr val="4D566A"/>
      </a:dk2>
      <a:lt2>
        <a:srgbClr val="DFE0DE"/>
      </a:lt2>
      <a:accent1>
        <a:srgbClr val="1F5FBF"/>
      </a:accent1>
      <a:accent2>
        <a:srgbClr val="B5451B"/>
      </a:accent2>
      <a:accent3>
        <a:srgbClr val="B9CDEE"/>
      </a:accent3>
      <a:accent4>
        <a:srgbClr val="9FB5DD"/>
      </a:accent4>
      <a:accent5>
        <a:srgbClr val="14285A"/>
      </a:accent5>
      <a:accent6>
        <a:srgbClr val="7FB0FF"/>
      </a:accent6>
      <a:hlink>
        <a:srgbClr val="0563C1"/>
      </a:hlink>
      <a:folHlink>
        <a:srgbClr val="954F72"/>
      </a:folHlink>
    </a:clrScheme>
    <a:fontScheme name="Normalidade Contextual em APIs">
      <a:majorFont>
        <a:latin typeface="Source Serif 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Normalidade Contextual em APIs</dc:title>
  <dc:subject/>
  <dc:creator/>
  <cp:lastModifiedBy/>
  <cp:revision>1</cp:revision>
  <dcterms:created xsi:type="dcterms:W3CDTF">2026-10-02T05:20:52Z</dcterms:created>
  <dcterms:modified xsi:type="dcterms:W3CDTF">2026-10-02T05:20:52Z</dcterms:modified>
</cp:coreProperties>
</file>